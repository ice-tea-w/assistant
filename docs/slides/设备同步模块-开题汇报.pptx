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80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103120"/>
            <a:ext cx="2014372" cy="257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90D9"/>
                </a:solidFill>
                <a:latin typeface="Microsoft YaHei"/>
                <a:ea typeface="Microsoft YaHei"/>
                <a:cs typeface="Microsoft YaHei"/>
              </a:rPr>
              <a:t>ASSISTANT · 功能构想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42032"/>
            <a:ext cx="2375408" cy="8102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设备同步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639312"/>
            <a:ext cx="4240022" cy="313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B9C6D8"/>
                </a:solidFill>
                <a:latin typeface="Microsoft YaHei"/>
                <a:ea typeface="Microsoft YaHei"/>
                <a:cs typeface="Microsoft YaHei"/>
              </a:rPr>
              <a:t>两台电脑共享文件 · 各自编辑 · 自动合并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389120"/>
            <a:ext cx="2743200" cy="27432"/>
          </a:xfrm>
          <a:prstGeom prst="rect">
            <a:avLst/>
          </a:prstGeom>
          <a:solidFill>
            <a:srgbClr val="354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4681728"/>
            <a:ext cx="2326767" cy="2196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dirty="0" err="1">
                <a:solidFill>
                  <a:srgbClr val="8E9AAD"/>
                </a:solidFill>
                <a:latin typeface="Microsoft YaHei"/>
                <a:ea typeface="Microsoft YaHei"/>
                <a:cs typeface="Microsoft YaHei"/>
              </a:rPr>
              <a:t>软件工程导论实践</a:t>
            </a:r>
            <a:endParaRPr sz="1300" b="0" i="0" dirty="0">
              <a:solidFill>
                <a:srgbClr val="8E9AA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275320" y="2103120"/>
            <a:ext cx="1417320" cy="1051560"/>
          </a:xfrm>
          <a:prstGeom prst="roundRect">
            <a:avLst>
              <a:gd name="adj" fmla="val 8000"/>
            </a:avLst>
          </a:prstGeom>
          <a:solidFill>
            <a:srgbClr val="1E304C"/>
          </a:solidFill>
          <a:ln w="9525">
            <a:solidFill>
              <a:srgbClr val="2A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403336" y="2258568"/>
            <a:ext cx="1161288" cy="566928"/>
          </a:xfrm>
          <a:prstGeom prst="rect">
            <a:avLst/>
          </a:prstGeom>
          <a:solidFill>
            <a:srgbClr val="2A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24373" y="2515550"/>
            <a:ext cx="519214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dirty="0" err="1">
                <a:solidFill>
                  <a:srgbClr val="9FB2C8"/>
                </a:solidFill>
                <a:latin typeface="Microsoft YaHei"/>
                <a:ea typeface="Microsoft YaHei"/>
                <a:cs typeface="Microsoft YaHei"/>
              </a:rPr>
              <a:t>设备</a:t>
            </a:r>
            <a:r>
              <a:rPr sz="1100" b="1" i="0" dirty="0">
                <a:solidFill>
                  <a:srgbClr val="9FB2C8"/>
                </a:solidFill>
                <a:latin typeface="Microsoft YaHei"/>
                <a:ea typeface="Microsoft YaHei"/>
                <a:cs typeface="Microsoft YaHei"/>
              </a:rPr>
              <a:t>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95560" y="2103120"/>
            <a:ext cx="1417320" cy="1051560"/>
          </a:xfrm>
          <a:prstGeom prst="roundRect">
            <a:avLst>
              <a:gd name="adj" fmla="val 8000"/>
            </a:avLst>
          </a:prstGeom>
          <a:solidFill>
            <a:srgbClr val="1E304C"/>
          </a:solidFill>
          <a:ln w="9525">
            <a:solidFill>
              <a:srgbClr val="2A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0323576" y="2258568"/>
            <a:ext cx="1161288" cy="566928"/>
          </a:xfrm>
          <a:prstGeom prst="rect">
            <a:avLst/>
          </a:prstGeom>
          <a:solidFill>
            <a:srgbClr val="2A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644613" y="2498118"/>
            <a:ext cx="519214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dirty="0" err="1">
                <a:solidFill>
                  <a:srgbClr val="9FB2C8"/>
                </a:solidFill>
                <a:latin typeface="Microsoft YaHei"/>
                <a:ea typeface="Microsoft YaHei"/>
                <a:cs typeface="Microsoft YaHei"/>
              </a:rPr>
              <a:t>设备</a:t>
            </a:r>
            <a:r>
              <a:rPr sz="1100" b="1" i="0" dirty="0">
                <a:solidFill>
                  <a:srgbClr val="9FB2C8"/>
                </a:solidFill>
                <a:latin typeface="Microsoft YaHei"/>
                <a:ea typeface="Microsoft YaHei"/>
                <a:cs typeface="Microsoft YaHei"/>
              </a:rPr>
              <a:t>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0656" y="2377439"/>
            <a:ext cx="260210" cy="4787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4A90D9"/>
                </a:solidFill>
                <a:latin typeface="Microsoft YaHei"/>
                <a:ea typeface="Microsoft YaHei"/>
                <a:cs typeface="Microsoft YaHei"/>
              </a:rPr>
              <a:t>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712463"/>
            <a:ext cx="3337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7D4E6"/>
                </a:solidFill>
                <a:latin typeface="Microsoft YaHei"/>
                <a:ea typeface="Microsoft YaHei"/>
                <a:cs typeface="Microsoft YaHei"/>
              </a:rPr>
              <a:t>同一份文件 · 两边都改 · 都不丢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4463" y="6382512"/>
            <a:ext cx="231432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E9AAD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9"/>
            <a:ext cx="960120" cy="202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2C5F9E"/>
                </a:solidFill>
                <a:latin typeface="Microsoft YaHei"/>
                <a:ea typeface="Microsoft YaHei"/>
                <a:cs typeface="Microsoft YaHe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1485900" cy="497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 dirty="0" err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一页看懂</a:t>
            </a:r>
            <a:endParaRPr sz="2700" b="1" i="0" dirty="0">
              <a:solidFill>
                <a:srgbClr val="1A1A1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960120" cy="41148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3378098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3378098" cy="54864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78408" y="1938528"/>
            <a:ext cx="1092707" cy="329184"/>
          </a:xfrm>
          <a:prstGeom prst="roundRect">
            <a:avLst>
              <a:gd name="adj" fmla="val 40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1938528"/>
            <a:ext cx="109270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C5F9E"/>
                </a:solidFill>
                <a:latin typeface="Microsoft YaHei"/>
                <a:ea typeface="Microsoft YaHei"/>
                <a:cs typeface="Microsoft YaHei"/>
              </a:rPr>
              <a:t>要解决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468880"/>
            <a:ext cx="2231517" cy="3038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两台电脑的文件对不上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063240"/>
            <a:ext cx="279288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U 盘和微信传文件靠手工，改乱了不知道哪份新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网盘冲突时静默生成副本，用户根本不知道发生过什么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2498" y="1645920"/>
            <a:ext cx="3378098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2498" y="1645920"/>
            <a:ext cx="3378098" cy="54864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85106" y="1938528"/>
            <a:ext cx="1092707" cy="329184"/>
          </a:xfrm>
          <a:prstGeom prst="roundRect">
            <a:avLst>
              <a:gd name="adj" fmla="val 40000"/>
            </a:avLst>
          </a:prstGeom>
          <a:solidFill>
            <a:srgbClr val="E4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85106" y="1938528"/>
            <a:ext cx="109270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6270"/>
                </a:solidFill>
                <a:latin typeface="Microsoft YaHei"/>
                <a:ea typeface="Microsoft YaHei"/>
                <a:cs typeface="Microsoft YaHei"/>
              </a:rPr>
              <a:t>怎么做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5106" y="2468880"/>
            <a:ext cx="2231517" cy="3038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把传输和同步逻辑拆开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5106" y="3063240"/>
            <a:ext cx="279288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同步逻辑自己写，传输做成可替换的通道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局域网走直连，异地走共享目录，连不通自动降级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99196" y="1645920"/>
            <a:ext cx="3378098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99196" y="1645920"/>
            <a:ext cx="3378098" cy="54864"/>
          </a:xfrm>
          <a:prstGeom prst="rect">
            <a:avLst/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191804" y="1938528"/>
            <a:ext cx="1092707" cy="329184"/>
          </a:xfrm>
          <a:prstGeom prst="roundRect">
            <a:avLst>
              <a:gd name="adj" fmla="val 40000"/>
            </a:avLst>
          </a:prstGeom>
          <a:solidFill>
            <a:srgbClr val="FD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91804" y="1938528"/>
            <a:ext cx="109270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A5400"/>
                </a:solidFill>
                <a:latin typeface="Microsoft YaHei"/>
                <a:ea typeface="Microsoft YaHei"/>
                <a:cs typeface="Microsoft YaHei"/>
              </a:rPr>
              <a:t>守什么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1804" y="2468880"/>
            <a:ext cx="1584007" cy="3038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冲突必须看得见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1804" y="3063240"/>
            <a:ext cx="279288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两边都改过的文件，保留双方版本，绝不静默覆盖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删除的文件先移入回收目录，可恢复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463" y="6382512"/>
            <a:ext cx="231432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9"/>
            <a:ext cx="507206" cy="202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2C5F9E"/>
                </a:solidFill>
                <a:latin typeface="Microsoft YaHei"/>
                <a:ea typeface="Microsoft YaHei"/>
                <a:cs typeface="Microsoft YaHei"/>
              </a:rPr>
              <a:t>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4664583" cy="497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 dirty="0" err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现在是怎么做的，为什么不够</a:t>
            </a:r>
            <a:endParaRPr sz="2700" b="1" i="0" dirty="0">
              <a:solidFill>
                <a:srgbClr val="1A1A1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960120" cy="41148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45920"/>
          <a:ext cx="10820095" cy="2542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850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现有做法</a:t>
                      </a:r>
                    </a:p>
                  </a:txBody>
                  <a:tcPr marL="137160" marR="118872" marT="36576" marB="36576" anchor="ctr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它解决了什么</a:t>
                      </a:r>
                    </a:p>
                  </a:txBody>
                  <a:tcPr marL="137160" marR="118872" marT="36576" marB="36576" anchor="ctr">
                    <a:solidFill>
                      <a:srgbClr val="1422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它哪里不够</a:t>
                      </a:r>
                    </a:p>
                  </a:txBody>
                  <a:tcPr marL="137160" marR="118872" marT="36576" marB="36576" anchor="ctr">
                    <a:solidFill>
                      <a:srgbClr val="14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 盘 / 微信传文件</a:t>
                      </a:r>
                    </a:p>
                  </a:txBody>
                  <a:tcPr marL="137160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能把文件挪到另一台机器</a:t>
                      </a:r>
                    </a:p>
                  </a:txBody>
                  <a:tcPr marL="137160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全靠手工；两边都改过之后，分不清哪份最新</a:t>
                      </a:r>
                    </a:p>
                  </a:txBody>
                  <a:tcPr marL="137160" marR="11887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网盘同步盘</a:t>
                      </a:r>
                    </a:p>
                  </a:txBody>
                  <a:tcPr marL="137160" marR="118872" marT="36576" marB="36576" anchor="ctr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自动同步，不用管</a:t>
                      </a:r>
                    </a:p>
                  </a:txBody>
                  <a:tcPr marL="137160" marR="118872" marT="36576" marB="36576" anchor="ctr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 dirty="0" err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冲突时静默生成副本，用户不知道发生过什么；也无法按需选择共享范围</a:t>
                      </a:r>
                      <a:endParaRPr sz="1250" b="0" dirty="0">
                        <a:solidFill>
                          <a:srgbClr val="1A1A1A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marL="137160" marR="118872" marT="36576" marB="36576" anchor="ctr">
                    <a:solidFill>
                      <a:srgbClr val="F1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Syncthing 之类的工具</a:t>
                      </a:r>
                    </a:p>
                  </a:txBody>
                  <a:tcPr marL="137160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点对点同步，功能很强</a:t>
                      </a:r>
                    </a:p>
                  </a:txBody>
                  <a:tcPr marL="137160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 dirty="0" err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面向技术人员，配置复杂，与电脑里已有的工具是割裂的</a:t>
                      </a:r>
                      <a:endParaRPr sz="1250" b="0" dirty="0">
                        <a:solidFill>
                          <a:srgbClr val="1A1A1A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marL="137160" marR="11887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5800" y="4572000"/>
            <a:ext cx="10820095" cy="804672"/>
          </a:xfrm>
          <a:prstGeom prst="roundRect">
            <a:avLst>
              <a:gd name="adj" fmla="val 5000"/>
            </a:avLst>
          </a:prstGeom>
          <a:solidFill>
            <a:srgbClr val="FDF3E2"/>
          </a:solidFill>
          <a:ln w="12700">
            <a:solidFill>
              <a:srgbClr val="B5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4727448"/>
            <a:ext cx="1662493" cy="248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8A5400"/>
                </a:solidFill>
                <a:latin typeface="Microsoft YaHei"/>
                <a:ea typeface="Microsoft YaHei"/>
                <a:cs typeface="Microsoft YaHei"/>
              </a:rPr>
              <a:t>三种做法的共同盲点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010912"/>
            <a:ext cx="6090412" cy="211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4200"/>
                </a:solidFill>
                <a:latin typeface="Microsoft YaHei"/>
                <a:ea typeface="Microsoft YaHei"/>
                <a:cs typeface="Microsoft YaHei"/>
              </a:rPr>
              <a:t>都没有把「冲突」当成一件需要让用户看见的事 —— 要么静默覆盖，要么悄悄生成一个副本。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4463" y="6382512"/>
            <a:ext cx="231432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799" y="384048"/>
            <a:ext cx="728663" cy="202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2C5F9E"/>
                </a:solidFill>
                <a:latin typeface="Microsoft YaHei"/>
                <a:ea typeface="Microsoft YaHei"/>
                <a:cs typeface="Microsoft YaHei"/>
              </a:rPr>
              <a:t>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2545461" cy="497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 dirty="0" err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我们要做到什么</a:t>
            </a:r>
            <a:endParaRPr sz="2700" b="1" i="0" dirty="0">
              <a:solidFill>
                <a:srgbClr val="1A1A1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960120" cy="41148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10820095" cy="749808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50292" cy="749808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33271" y="1865376"/>
            <a:ext cx="6561328" cy="285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让两台电脑上的同一批文件，最终一致；两边都改过时，两个版本都留下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70048"/>
            <a:ext cx="5263743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2670048"/>
            <a:ext cx="5263743" cy="54864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60120" y="2926080"/>
            <a:ext cx="1092707" cy="329184"/>
          </a:xfrm>
          <a:prstGeom prst="roundRect">
            <a:avLst>
              <a:gd name="adj" fmla="val 40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2926080"/>
            <a:ext cx="109270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C5F9E"/>
                </a:solidFill>
                <a:latin typeface="Microsoft YaHei"/>
                <a:ea typeface="Microsoft YaHei"/>
                <a:cs typeface="Microsoft YaHei"/>
              </a:rPr>
              <a:t>功能上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474720"/>
            <a:ext cx="4715103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两台设备配对后可互相同步指定目录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新增、修改的文件在两端保持一致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两端都改过时生成冲突副本，绝不静默覆盖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删除的文件先移入回收目录，可恢复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支持手动同步与定时自动同步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88455" y="2670048"/>
            <a:ext cx="5263743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88455" y="2670048"/>
            <a:ext cx="5263743" cy="54864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662775" y="2926080"/>
            <a:ext cx="1092707" cy="329184"/>
          </a:xfrm>
          <a:prstGeom prst="roundRect">
            <a:avLst>
              <a:gd name="adj" fmla="val 40000"/>
            </a:avLst>
          </a:prstGeom>
          <a:solidFill>
            <a:srgbClr val="E4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62775" y="2926080"/>
            <a:ext cx="109270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6270"/>
                </a:solidFill>
                <a:latin typeface="Microsoft YaHei"/>
                <a:ea typeface="Microsoft YaHei"/>
                <a:cs typeface="Microsoft YaHei"/>
              </a:rPr>
              <a:t>质量上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2775" y="3474720"/>
            <a:ext cx="4715103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局域网与异地两种网络环境都能用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冲突双方版本都必须留存，一个都不能丢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同步在后台进行，不卡界面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单台电脑开两个实例就能完整演示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4463" y="6382512"/>
            <a:ext cx="231432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9"/>
            <a:ext cx="750094" cy="202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C5F9E"/>
                </a:solidFill>
                <a:latin typeface="Microsoft YaHei"/>
                <a:ea typeface="Microsoft YaHei"/>
                <a:cs typeface="Microsoft YaHei"/>
              </a:rPr>
              <a:t>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4311396" cy="497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 dirty="0" err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一次同步，中间发生了什么</a:t>
            </a:r>
            <a:endParaRPr sz="2700" b="1" i="0" dirty="0">
              <a:solidFill>
                <a:srgbClr val="1A1A1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960120" cy="41148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2471851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2471851" cy="54864"/>
          </a:xfrm>
          <a:prstGeom prst="rect">
            <a:avLst/>
          </a:prstGeom>
          <a:solidFill>
            <a:srgbClr val="2C5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60120" y="1920240"/>
            <a:ext cx="598398" cy="347472"/>
          </a:xfrm>
          <a:prstGeom prst="roundRect">
            <a:avLst>
              <a:gd name="adj" fmla="val 40000"/>
            </a:avLst>
          </a:prstGeom>
          <a:solidFill>
            <a:srgbClr val="2C5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920240"/>
            <a:ext cx="59839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884174" cy="285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扫描本地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26080"/>
            <a:ext cx="1923211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算出每个文件的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大小、时间、哈希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7651" y="2542032"/>
            <a:ext cx="31089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8547" y="1645920"/>
            <a:ext cx="2471851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68547" y="1645920"/>
            <a:ext cx="2471851" cy="54864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742867" y="1920240"/>
            <a:ext cx="598398" cy="347472"/>
          </a:xfrm>
          <a:prstGeom prst="roundRect">
            <a:avLst>
              <a:gd name="adj" fmla="val 40000"/>
            </a:avLst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42867" y="1920240"/>
            <a:ext cx="59839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2867" y="2432304"/>
            <a:ext cx="884174" cy="285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拉取清单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2867" y="2926080"/>
            <a:ext cx="1923211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拿到对端每个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文件的状态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399" y="2542032"/>
            <a:ext cx="31089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1295" y="1645920"/>
            <a:ext cx="2471851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51295" y="1645920"/>
            <a:ext cx="2471851" cy="54864"/>
          </a:xfrm>
          <a:prstGeom prst="rect">
            <a:avLst/>
          </a:prstGeom>
          <a:solidFill>
            <a:srgbClr val="2C5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525615" y="1920240"/>
            <a:ext cx="598398" cy="347472"/>
          </a:xfrm>
          <a:prstGeom prst="roundRect">
            <a:avLst>
              <a:gd name="adj" fmla="val 40000"/>
            </a:avLst>
          </a:prstGeom>
          <a:solidFill>
            <a:srgbClr val="2C5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25615" y="1920240"/>
            <a:ext cx="59839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5615" y="2432304"/>
            <a:ext cx="884174" cy="285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比对基线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5615" y="2926080"/>
            <a:ext cx="1923211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和上次同步的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记录做比较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23147" y="2542032"/>
            <a:ext cx="31089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34043" y="1645920"/>
            <a:ext cx="2471851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034043" y="1645920"/>
            <a:ext cx="2471851" cy="54864"/>
          </a:xfrm>
          <a:prstGeom prst="rect">
            <a:avLst/>
          </a:prstGeom>
          <a:solidFill>
            <a:srgbClr val="9C5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308363" y="1920240"/>
            <a:ext cx="598398" cy="347472"/>
          </a:xfrm>
          <a:prstGeom prst="roundRect">
            <a:avLst>
              <a:gd name="adj" fmla="val 40000"/>
            </a:avLst>
          </a:prstGeom>
          <a:solidFill>
            <a:srgbClr val="9C5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08363" y="1920240"/>
            <a:ext cx="59839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08363" y="2432304"/>
            <a:ext cx="884174" cy="285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执行动作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08363" y="2926080"/>
            <a:ext cx="1923211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上传 / 下载 /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标记为冲突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4041648"/>
            <a:ext cx="10820095" cy="841248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14983" y="4187952"/>
            <a:ext cx="1093470" cy="2393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A90D9"/>
                </a:solidFill>
                <a:latin typeface="Microsoft YaHei"/>
                <a:ea typeface="Microsoft YaHei"/>
                <a:cs typeface="Microsoft YaHei"/>
              </a:rPr>
              <a:t>关键在第三步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3" y="4471416"/>
            <a:ext cx="5269992" cy="220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7D4E6"/>
                </a:solidFill>
                <a:latin typeface="Microsoft YaHei"/>
                <a:ea typeface="Microsoft YaHei"/>
                <a:cs typeface="Microsoft YaHei"/>
              </a:rPr>
              <a:t>判定只看「谁改了」——只有一边改就直接同步；两边都改过才需要人来决定。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4463" y="6382512"/>
            <a:ext cx="231432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799" y="384048"/>
            <a:ext cx="878681" cy="202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2C5F9E"/>
                </a:solidFill>
                <a:latin typeface="Microsoft YaHei"/>
                <a:ea typeface="Microsoft YaHei"/>
                <a:cs typeface="Microsoft YaHei"/>
              </a:rPr>
              <a:t>CONFLICT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3251835" cy="497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 dirty="0" err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两边都改了，怎么办</a:t>
            </a:r>
            <a:endParaRPr sz="2700" b="1" i="0" dirty="0">
              <a:solidFill>
                <a:srgbClr val="1A1A1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960120" cy="41148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475488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754880" cy="54864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883664"/>
            <a:ext cx="988822" cy="257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C5F9E"/>
                </a:solidFill>
                <a:latin typeface="Microsoft YaHei"/>
                <a:ea typeface="Microsoft YaHei"/>
                <a:cs typeface="Microsoft YaHei"/>
              </a:rPr>
              <a:t>你改的版本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1101852" cy="220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季度报告.docx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87168"/>
            <a:ext cx="1470152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在家里的台式机上改的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51015" y="1645920"/>
            <a:ext cx="475488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751015" y="1645920"/>
            <a:ext cx="4754880" cy="54864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25335" y="1883664"/>
            <a:ext cx="1171956" cy="257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6270"/>
                </a:solidFill>
                <a:latin typeface="Microsoft YaHei"/>
                <a:ea typeface="Microsoft YaHei"/>
                <a:cs typeface="Microsoft YaHei"/>
              </a:rPr>
              <a:t>同事改的版本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25335" y="2194560"/>
            <a:ext cx="1101852" cy="220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季度报告.docx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25335" y="2487168"/>
            <a:ext cx="1330452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在公司笔记本上改的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54680" y="2944368"/>
            <a:ext cx="2941167" cy="18288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87287" y="2944368"/>
            <a:ext cx="2941167" cy="18288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13551" y="3072384"/>
            <a:ext cx="163957" cy="2393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3493008"/>
            <a:ext cx="7802575" cy="1572768"/>
          </a:xfrm>
          <a:prstGeom prst="roundRect">
            <a:avLst>
              <a:gd name="adj" fmla="val 5000"/>
            </a:avLst>
          </a:prstGeom>
          <a:solidFill>
            <a:srgbClr val="FDF3E2"/>
          </a:solidFill>
          <a:ln w="15875">
            <a:solidFill>
              <a:srgbClr val="B5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87168" y="3657600"/>
            <a:ext cx="2375408" cy="294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8A5400"/>
                </a:solidFill>
                <a:latin typeface="Microsoft YaHei"/>
                <a:ea typeface="Microsoft YaHei"/>
                <a:cs typeface="Microsoft YaHei"/>
              </a:rPr>
              <a:t>两份都保留，一份都不丢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4059936"/>
            <a:ext cx="835152" cy="220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4200"/>
                </a:solidFill>
                <a:latin typeface="Microsoft YaHei"/>
                <a:ea typeface="Microsoft YaHei"/>
                <a:cs typeface="Microsoft YaHei"/>
              </a:rPr>
              <a:t>原文件不动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059936"/>
            <a:ext cx="1132713" cy="220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B4200"/>
                </a:solidFill>
                <a:latin typeface="Microsoft YaHei"/>
                <a:ea typeface="Microsoft YaHei"/>
                <a:cs typeface="Microsoft YaHei"/>
              </a:rPr>
              <a:t>季度报告.docx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87168" y="4389120"/>
            <a:ext cx="987552" cy="220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4200"/>
                </a:solidFill>
                <a:latin typeface="Microsoft YaHei"/>
                <a:ea typeface="Microsoft YaHei"/>
                <a:cs typeface="Microsoft YaHei"/>
              </a:rPr>
              <a:t>对端版本另存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4389120"/>
            <a:ext cx="4099483" cy="220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B4200"/>
                </a:solidFill>
                <a:latin typeface="Microsoft YaHei"/>
                <a:ea typeface="Microsoft YaHei"/>
                <a:cs typeface="Microsoft YaHei"/>
              </a:rPr>
              <a:t>季度报告 (冲突副本 来自笔记本 20260924-1530).docx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303520"/>
            <a:ext cx="2820162" cy="257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由用户决定留哪份，系统不做仲裁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650992"/>
            <a:ext cx="4308602" cy="211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冲突会出现在界面的冲突列表里，可以一键打开所在文件夹对照。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463" y="6382512"/>
            <a:ext cx="231432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63828" cy="220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C5F9E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2898648" cy="497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两条不能让的底线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960120" cy="41148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5263743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5263743" cy="54864"/>
          </a:xfrm>
          <a:prstGeom prst="rect">
            <a:avLst/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60120" y="1901952"/>
            <a:ext cx="1249680" cy="329184"/>
          </a:xfrm>
          <a:prstGeom prst="roundRect">
            <a:avLst>
              <a:gd name="adj" fmla="val 40000"/>
            </a:avLst>
          </a:prstGeom>
          <a:solidFill>
            <a:srgbClr val="FD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901952"/>
            <a:ext cx="12496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A5400"/>
                </a:solidFill>
                <a:latin typeface="Microsoft YaHei"/>
                <a:ea typeface="Microsoft YaHei"/>
                <a:cs typeface="Microsoft YaHei"/>
              </a:rPr>
              <a:t>不丢数据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77440"/>
            <a:ext cx="2303462" cy="285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任何情况下都不静默覆盖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825309" cy="211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5400"/>
                </a:solidFill>
                <a:latin typeface="Microsoft YaHei"/>
                <a:ea typeface="Microsoft YaHei"/>
                <a:cs typeface="Microsoft YaHei"/>
              </a:rPr>
              <a:t>两边都改过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00400"/>
            <a:ext cx="1889252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保留双方版本，生成冲突副本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02735"/>
            <a:ext cx="1126172" cy="211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5400"/>
                </a:solidFill>
                <a:latin typeface="Microsoft YaHei"/>
                <a:ea typeface="Microsoft YaHei"/>
                <a:cs typeface="Microsoft YaHei"/>
              </a:rPr>
              <a:t>对端删除了文件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58768"/>
            <a:ext cx="2028952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先移入回收目录，不是直接消失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261104"/>
            <a:ext cx="825309" cy="211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5400"/>
                </a:solidFill>
                <a:latin typeface="Microsoft YaHei"/>
                <a:ea typeface="Microsoft YaHei"/>
                <a:cs typeface="Microsoft YaHei"/>
              </a:rPr>
              <a:t>同步被中断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17136"/>
            <a:ext cx="2308352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再同步能正确收敛，不留重复和残留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88455" y="1645920"/>
            <a:ext cx="5263743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88455" y="1645920"/>
            <a:ext cx="5263743" cy="54864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662775" y="1901952"/>
            <a:ext cx="1563624" cy="329184"/>
          </a:xfrm>
          <a:prstGeom prst="roundRect">
            <a:avLst>
              <a:gd name="adj" fmla="val 40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62775" y="1901952"/>
            <a:ext cx="156362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C5F9E"/>
                </a:solidFill>
                <a:latin typeface="Microsoft YaHei"/>
                <a:ea typeface="Microsoft YaHei"/>
                <a:cs typeface="Microsoft YaHei"/>
              </a:rPr>
              <a:t>不给坏人开门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2775" y="2377440"/>
            <a:ext cx="2708973" cy="285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接收端不信任对端送来的路径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2775" y="2944368"/>
            <a:ext cx="674878" cy="211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C5F9E"/>
                </a:solidFill>
                <a:latin typeface="Microsoft YaHei"/>
                <a:ea typeface="Microsoft YaHei"/>
                <a:cs typeface="Microsoft YaHei"/>
              </a:rPr>
              <a:t>路径校验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2775" y="3200400"/>
            <a:ext cx="3146552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拒绝一切越出共享目录的路径，包括符号链接绕道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2775" y="3602735"/>
            <a:ext cx="674878" cy="211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C5F9E"/>
                </a:solidFill>
                <a:latin typeface="Microsoft YaHei"/>
                <a:ea typeface="Microsoft YaHei"/>
                <a:cs typeface="Microsoft YaHei"/>
              </a:rPr>
              <a:t>配对确认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2775" y="3858768"/>
            <a:ext cx="2168652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首次配对要两台机器上人工点确认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2775" y="4261104"/>
            <a:ext cx="825309" cy="211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C5F9E"/>
                </a:solidFill>
                <a:latin typeface="Microsoft YaHei"/>
                <a:ea typeface="Microsoft YaHei"/>
                <a:cs typeface="Microsoft YaHei"/>
              </a:rPr>
              <a:t>只收该收的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2775" y="4517136"/>
            <a:ext cx="1889252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共享目录之外的位置一概不写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463" y="6382512"/>
            <a:ext cx="231432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22832" cy="220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C5F9E"/>
                </a:solidFill>
                <a:latin typeface="Microsoft YaHei"/>
                <a:ea typeface="Microsoft YaHei"/>
                <a:cs typeface="Microsoft YaHei"/>
              </a:rPr>
              <a:t>FEASIBILITY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94944"/>
            <a:ext cx="4664583" cy="497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技术上可行，而且能当场演示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960120" cy="41148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653796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6537960" cy="54864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1920240"/>
            <a:ext cx="3502152" cy="2619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dirty="0" err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需要的</a:t>
            </a:r>
            <a:r>
              <a:rPr lang="zh-CN" altLang="en-US" sz="1550" b="1" i="0" dirty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技术栈</a:t>
            </a:r>
            <a:r>
              <a:rPr sz="1550" b="1" i="0" dirty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，</a:t>
            </a:r>
            <a:r>
              <a:rPr sz="1550" b="1" i="0" dirty="0" err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项目里全都有</a:t>
            </a:r>
            <a:endParaRPr sz="1550" b="1" i="0" dirty="0">
              <a:solidFill>
                <a:srgbClr val="1A1A1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68680" y="2441448"/>
            <a:ext cx="6172200" cy="402336"/>
          </a:xfrm>
          <a:prstGeom prst="roundRect">
            <a:avLst>
              <a:gd name="adj" fmla="val 3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532888"/>
            <a:ext cx="1825752" cy="220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网络通信（TCP / HTTP）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532888"/>
            <a:ext cx="1037082" cy="211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Qt6::Network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2478024"/>
            <a:ext cx="887539" cy="292608"/>
          </a:xfrm>
          <a:prstGeom prst="roundRect">
            <a:avLst>
              <a:gd name="adj" fmla="val 40000"/>
            </a:avLst>
          </a:prstGeom>
          <a:solidFill>
            <a:srgbClr val="E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06440" y="2478024"/>
            <a:ext cx="887539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6724A"/>
                </a:solidFill>
                <a:latin typeface="Microsoft YaHei"/>
                <a:ea typeface="Microsoft YaHei"/>
                <a:cs typeface="Microsoft YaHei"/>
              </a:rPr>
              <a:t>已链接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" y="2990088"/>
            <a:ext cx="987552" cy="220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文件哈希校验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990088"/>
            <a:ext cx="1519047" cy="211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QCryptographicHash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2935224"/>
            <a:ext cx="976817" cy="292608"/>
          </a:xfrm>
          <a:prstGeom prst="roundRect">
            <a:avLst>
              <a:gd name="adj" fmla="val 40000"/>
            </a:avLst>
          </a:prstGeom>
          <a:solidFill>
            <a:srgbClr val="E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806440" y="2935224"/>
            <a:ext cx="976817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6724A"/>
                </a:solidFill>
                <a:latin typeface="Microsoft YaHei"/>
                <a:ea typeface="Microsoft YaHei"/>
                <a:cs typeface="Microsoft YaHei"/>
              </a:rPr>
              <a:t>Qt 内置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3355848"/>
            <a:ext cx="6172200" cy="402336"/>
          </a:xfrm>
          <a:prstGeom prst="roundRect">
            <a:avLst>
              <a:gd name="adj" fmla="val 3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33271" y="3447288"/>
            <a:ext cx="1139952" cy="220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同步元数据存储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447288"/>
            <a:ext cx="555117" cy="211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SQLite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3392424"/>
            <a:ext cx="1251518" cy="292608"/>
          </a:xfrm>
          <a:prstGeom prst="roundRect">
            <a:avLst>
              <a:gd name="adj" fmla="val 40000"/>
            </a:avLst>
          </a:prstGeom>
          <a:solidFill>
            <a:srgbClr val="E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06440" y="3392424"/>
            <a:ext cx="125151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6724A"/>
                </a:solidFill>
                <a:latin typeface="Microsoft YaHei"/>
                <a:ea typeface="Microsoft YaHei"/>
                <a:cs typeface="Microsoft YaHei"/>
              </a:rPr>
              <a:t>已有 4 个库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1" y="3904488"/>
            <a:ext cx="1139952" cy="220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设置与状态界面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904488"/>
            <a:ext cx="832611" cy="211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QML 主面板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06440" y="3849624"/>
            <a:ext cx="1162240" cy="292608"/>
          </a:xfrm>
          <a:prstGeom prst="roundRect">
            <a:avLst>
              <a:gd name="adj" fmla="val 40000"/>
            </a:avLst>
          </a:prstGeom>
          <a:solidFill>
            <a:srgbClr val="E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06440" y="3849624"/>
            <a:ext cx="11622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6724A"/>
                </a:solidFill>
                <a:latin typeface="Microsoft YaHei"/>
                <a:ea typeface="Microsoft YaHei"/>
                <a:cs typeface="Microsoft YaHei"/>
              </a:rPr>
              <a:t>现成可复用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4270248"/>
            <a:ext cx="6172200" cy="402336"/>
          </a:xfrm>
          <a:prstGeom prst="roundRect">
            <a:avLst>
              <a:gd name="adj" fmla="val 3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33271" y="4361688"/>
            <a:ext cx="987552" cy="220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后台同步线程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361688"/>
            <a:ext cx="635444" cy="211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QThread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06440" y="4306824"/>
            <a:ext cx="976817" cy="292608"/>
          </a:xfrm>
          <a:prstGeom prst="roundRect">
            <a:avLst>
              <a:gd name="adj" fmla="val 40000"/>
            </a:avLst>
          </a:prstGeom>
          <a:solidFill>
            <a:srgbClr val="E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806440" y="4306824"/>
            <a:ext cx="976817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6724A"/>
                </a:solidFill>
                <a:latin typeface="Microsoft YaHei"/>
                <a:ea typeface="Microsoft YaHei"/>
                <a:cs typeface="Microsoft YaHei"/>
              </a:rPr>
              <a:t>Qt 内置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73693" y="1732788"/>
            <a:ext cx="3898087" cy="3246120"/>
          </a:xfrm>
          <a:prstGeom prst="roundRect">
            <a:avLst>
              <a:gd name="adj" fmla="val 5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882128" y="1920240"/>
            <a:ext cx="753364" cy="2393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A90D9"/>
                </a:solidFill>
                <a:latin typeface="Microsoft YaHei"/>
                <a:ea typeface="Microsoft YaHei"/>
                <a:cs typeface="Microsoft YaHei"/>
              </a:rPr>
              <a:t>演示方案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2128" y="2286000"/>
            <a:ext cx="1407414" cy="313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一台电脑就够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82128" y="2852928"/>
            <a:ext cx="3349447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 dirty="0">
                <a:solidFill>
                  <a:srgbClr val="C7D4E6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100" b="0" i="0" dirty="0" err="1">
                <a:solidFill>
                  <a:srgbClr val="C7D4E6"/>
                </a:solidFill>
                <a:latin typeface="Microsoft YaHei"/>
                <a:ea typeface="Microsoft YaHei"/>
                <a:cs typeface="Microsoft YaHei"/>
              </a:rPr>
              <a:t>开两个实例，各用一个配置目录</a:t>
            </a:r>
            <a:endParaRPr sz="1100" b="0" i="0" dirty="0">
              <a:solidFill>
                <a:srgbClr val="C7D4E6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 dirty="0">
                <a:solidFill>
                  <a:srgbClr val="C7D4E6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100" b="0" i="0" dirty="0" err="1">
                <a:solidFill>
                  <a:srgbClr val="C7D4E6"/>
                </a:solidFill>
                <a:latin typeface="Microsoft YaHei"/>
                <a:ea typeface="Microsoft YaHei"/>
                <a:cs typeface="Microsoft YaHei"/>
              </a:rPr>
              <a:t>两个实例指向同一个共享目录</a:t>
            </a:r>
            <a:endParaRPr sz="1100" b="0" i="0" dirty="0">
              <a:solidFill>
                <a:srgbClr val="C7D4E6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0" dirty="0">
                <a:solidFill>
                  <a:srgbClr val="C7D4E6"/>
                </a:solidFill>
                <a:latin typeface="Microsoft YaHei"/>
                <a:ea typeface="Microsoft YaHei"/>
                <a:cs typeface="Microsoft YaHei"/>
              </a:rPr>
              <a:t>·  </a:t>
            </a:r>
            <a:r>
              <a:rPr sz="1100" b="0" i="0" dirty="0" err="1">
                <a:solidFill>
                  <a:srgbClr val="C7D4E6"/>
                </a:solidFill>
                <a:latin typeface="Microsoft YaHei"/>
                <a:ea typeface="Microsoft YaHei"/>
                <a:cs typeface="Microsoft YaHei"/>
              </a:rPr>
              <a:t>现场制造一次冲突，看两份文件都在</a:t>
            </a:r>
            <a:endParaRPr sz="1100" b="0" i="0" dirty="0">
              <a:solidFill>
                <a:srgbClr val="C7D4E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7882128" y="4297680"/>
            <a:ext cx="3349447" cy="18288"/>
          </a:xfrm>
          <a:prstGeom prst="rect">
            <a:avLst/>
          </a:prstGeom>
          <a:solidFill>
            <a:srgbClr val="354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882128" y="4425696"/>
            <a:ext cx="1971802" cy="211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9C6D8"/>
                </a:solidFill>
                <a:latin typeface="Microsoft YaHei"/>
                <a:ea typeface="Microsoft YaHei"/>
                <a:cs typeface="Microsoft YaHei"/>
              </a:rPr>
              <a:t>不需要第二台电脑或可用网络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4463" y="6382512"/>
            <a:ext cx="231432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00088" cy="2028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2C5F9E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960120" cy="41148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2533573" cy="1755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2533573" cy="54864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1901952"/>
            <a:ext cx="539489" cy="211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C5F9E"/>
                </a:solidFill>
                <a:latin typeface="Microsoft YaHei"/>
                <a:ea typeface="Microsoft YaHei"/>
                <a:cs typeface="Microsoft YaHei"/>
              </a:rPr>
              <a:t>同学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194560"/>
            <a:ext cx="988822" cy="257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网络与传输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651760"/>
            <a:ext cx="205808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直连通道与协议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断点续传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973" y="1645920"/>
            <a:ext cx="2533573" cy="1755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47973" y="1645920"/>
            <a:ext cx="2533573" cy="54864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717" y="1901952"/>
            <a:ext cx="539489" cy="211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76270"/>
                </a:solidFill>
                <a:latin typeface="Microsoft YaHei"/>
                <a:ea typeface="Microsoft YaHei"/>
                <a:cs typeface="Microsoft YaHei"/>
              </a:rPr>
              <a:t>同学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717" y="2194560"/>
            <a:ext cx="805688" cy="257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同步引擎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717" y="2651760"/>
            <a:ext cx="205808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差量判定算法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冲突策略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645920"/>
            <a:ext cx="2533573" cy="1755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0147" y="1645920"/>
            <a:ext cx="2533573" cy="54864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7891" y="1901952"/>
            <a:ext cx="539489" cy="211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C5F9E"/>
                </a:solidFill>
                <a:latin typeface="Microsoft YaHei"/>
                <a:ea typeface="Microsoft YaHei"/>
                <a:cs typeface="Microsoft YaHei"/>
              </a:rPr>
              <a:t>同学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7891" y="2194560"/>
            <a:ext cx="988822" cy="257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数据与界面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7891" y="2651760"/>
            <a:ext cx="205808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数据库与桥接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主面板界面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2321" y="1645920"/>
            <a:ext cx="2533573" cy="1755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72321" y="1645920"/>
            <a:ext cx="2533573" cy="54864"/>
          </a:xfrm>
          <a:prstGeom prst="rect">
            <a:avLst/>
          </a:prstGeom>
          <a:solidFill>
            <a:srgbClr val="B5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10065" y="1901952"/>
            <a:ext cx="539489" cy="2117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5400"/>
                </a:solidFill>
                <a:latin typeface="Microsoft YaHei"/>
                <a:ea typeface="Microsoft YaHei"/>
                <a:cs typeface="Microsoft YaHei"/>
              </a:rPr>
              <a:t>同学 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0065" y="2194560"/>
            <a:ext cx="988822" cy="257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安全与测试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0065" y="2651760"/>
            <a:ext cx="205808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路径校验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·  集成测试与文档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4041648"/>
            <a:ext cx="9905695" cy="18288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476756" y="3931920"/>
            <a:ext cx="246888" cy="246888"/>
          </a:xfrm>
          <a:prstGeom prst="roundRect">
            <a:avLst>
              <a:gd name="adj" fmla="val 50000"/>
            </a:avLst>
          </a:prstGeom>
          <a:solidFill>
            <a:srgbClr val="2C5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476756" y="3941063"/>
            <a:ext cx="24688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279392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需求与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契约冻结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75015" y="3931920"/>
            <a:ext cx="246888" cy="246888"/>
          </a:xfrm>
          <a:prstGeom prst="roundRect">
            <a:avLst>
              <a:gd name="adj" fmla="val 50000"/>
            </a:avLst>
          </a:prstGeom>
          <a:solidFill>
            <a:srgbClr val="2C5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75015" y="3941063"/>
            <a:ext cx="24688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12659" y="4279392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四大模块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并行开发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73274" y="3931920"/>
            <a:ext cx="246888" cy="246888"/>
          </a:xfrm>
          <a:prstGeom prst="roundRect">
            <a:avLst>
              <a:gd name="adj" fmla="val 50000"/>
            </a:avLst>
          </a:prstGeom>
          <a:solidFill>
            <a:srgbClr val="2C5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73274" y="3941063"/>
            <a:ext cx="24688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0918" y="4279392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引擎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集成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71533" y="3931920"/>
            <a:ext cx="246888" cy="246888"/>
          </a:xfrm>
          <a:prstGeom prst="roundRect">
            <a:avLst>
              <a:gd name="adj" fmla="val 50000"/>
            </a:avLst>
          </a:prstGeom>
          <a:solidFill>
            <a:srgbClr val="2C5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71533" y="3941063"/>
            <a:ext cx="24688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177" y="4279392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端到端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与安全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69792" y="3931920"/>
            <a:ext cx="246888" cy="246888"/>
          </a:xfrm>
          <a:prstGeom prst="roundRect">
            <a:avLst>
              <a:gd name="adj" fmla="val 50000"/>
            </a:avLst>
          </a:prstGeom>
          <a:solidFill>
            <a:srgbClr val="2C5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669792" y="3941063"/>
            <a:ext cx="24688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07436" y="4279392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完善与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打磨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68051" y="3931920"/>
            <a:ext cx="246888" cy="246888"/>
          </a:xfrm>
          <a:prstGeom prst="roundRect">
            <a:avLst>
              <a:gd name="adj" fmla="val 50000"/>
            </a:avLst>
          </a:prstGeom>
          <a:solidFill>
            <a:srgbClr val="2C5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468051" y="3941063"/>
            <a:ext cx="246888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695" y="4279392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文档与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答辩准备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4463" y="6382512"/>
            <a:ext cx="231432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E6A7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874519"/>
            <a:ext cx="988822" cy="257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90D9"/>
                </a:solidFill>
                <a:latin typeface="Microsoft YaHei"/>
                <a:ea typeface="Microsoft YaHei"/>
                <a:cs typeface="Microsoft YaHei"/>
              </a:rPr>
              <a:t>我们想做的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304288"/>
            <a:ext cx="7633970" cy="626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一个能看见冲突、并且不丢数据的同步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310128"/>
            <a:ext cx="7312152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B9C6D8"/>
                </a:solidFill>
                <a:latin typeface="Microsoft YaHei"/>
                <a:ea typeface="Microsoft YaHei"/>
                <a:cs typeface="Microsoft YaHei"/>
              </a:rPr>
              <a:t>不是把文件悄悄挪过去，而是让每一处改动都留下痕迹，让用户始终知道发生了什么。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977639"/>
            <a:ext cx="2743200" cy="27432"/>
          </a:xfrm>
          <a:prstGeom prst="rect">
            <a:avLst/>
          </a:prstGeom>
          <a:solidFill>
            <a:srgbClr val="354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4297680"/>
            <a:ext cx="923417" cy="2393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A90D9"/>
                </a:solidFill>
                <a:latin typeface="Microsoft YaHei"/>
                <a:ea typeface="Microsoft YaHei"/>
                <a:cs typeface="Microsoft YaHei"/>
              </a:rPr>
              <a:t>请老师指点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663440"/>
            <a:ext cx="10241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C7D4E6"/>
                </a:solidFill>
                <a:latin typeface="Microsoft YaHei"/>
                <a:ea typeface="Microsoft YaHei"/>
                <a:cs typeface="Microsoft YaHei"/>
              </a:rPr>
              <a:t>·  共享目录只做一个，还是允许配置多个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C7D4E6"/>
                </a:solidFill>
                <a:latin typeface="Microsoft YaHei"/>
                <a:ea typeface="Microsoft YaHei"/>
                <a:cs typeface="Microsoft YaHei"/>
              </a:rPr>
              <a:t>·  自动同步的默认间隔取多少合适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C7D4E6"/>
                </a:solidFill>
                <a:latin typeface="Microsoft YaHei"/>
                <a:ea typeface="Microsoft YaHei"/>
                <a:cs typeface="Microsoft YaHei"/>
              </a:rPr>
              <a:t>·  要不要把实时协同编辑也纳入范围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4463" y="6382512"/>
            <a:ext cx="231432" cy="202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E9AAD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379</Words>
  <Application>Microsoft Office PowerPoint</Application>
  <PresentationFormat>宽屏</PresentationFormat>
  <Paragraphs>185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星期天不上发条</cp:lastModifiedBy>
  <cp:revision>5</cp:revision>
  <dcterms:created xsi:type="dcterms:W3CDTF">2013-01-27T09:14:16Z</dcterms:created>
  <dcterms:modified xsi:type="dcterms:W3CDTF">2026-10-08T09:44:20Z</dcterms:modified>
  <cp:category/>
</cp:coreProperties>
</file>